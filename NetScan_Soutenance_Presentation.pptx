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90A0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2011680"/>
            <a:ext cx="9966960" cy="3200400"/>
          </a:xfrm>
          <a:prstGeom prst="rect">
            <a:avLst/>
          </a:prstGeom>
          <a:noFill/>
        </p:spPr>
        <p:txBody>
          <a:bodyPr wrap="square" lIns="0" tIns="0" rIns="0" bIns="0">
            <a:spAutoFit/>
          </a:bodyPr>
          <a:lstStyle/>
          <a:p>
            <a:pPr>
              <a:spcAft>
                <a:spcPts val="1600"/>
              </a:spcAft>
              <a:defRPr sz="1100" b="1">
                <a:solidFill>
                  <a:srgbClr val="00E5FF"/>
                </a:solidFill>
                <a:latin typeface="Consolas"/>
              </a:defRPr>
            </a:pPr>
            <a:r>
              <a:t>DUT CYBERSÉCURITÉ — ÉCOLE SUPÉRIEURE DE TECHNOLOGIE (EST)</a:t>
            </a:r>
          </a:p>
          <a:p>
            <a:pPr>
              <a:spcAft>
                <a:spcPts val="1200"/>
              </a:spcAft>
              <a:defRPr sz="5600" b="1">
                <a:solidFill>
                  <a:srgbClr val="FFFFFF"/>
                </a:solidFill>
                <a:latin typeface="Segoe UI"/>
              </a:defRPr>
            </a:pPr>
            <a:r>
              <a:t>NetScan</a:t>
            </a:r>
          </a:p>
          <a:p>
            <a:pPr>
              <a:defRPr sz="1800">
                <a:solidFill>
                  <a:srgbClr val="8E95A5"/>
                </a:solidFill>
                <a:latin typeface="Segoe UI"/>
              </a:defRPr>
            </a:pPr>
            <a:r>
              <a:t>Détection d'anomalies et intrusions réseau par Machine Learning non supervisé.</a:t>
            </a:r>
          </a:p>
        </p:txBody>
      </p:sp>
      <p:sp>
        <p:nvSpPr>
          <p:cNvPr id="4" name="Rectangle 3"/>
          <p:cNvSpPr/>
          <p:nvPr/>
        </p:nvSpPr>
        <p:spPr>
          <a:xfrm>
            <a:off x="914400" y="6217920"/>
            <a:ext cx="10362895" cy="12700"/>
          </a:xfrm>
          <a:prstGeom prst="rect">
            <a:avLst/>
          </a:prstGeom>
          <a:solidFill>
            <a:srgbClr val="262B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6309360"/>
            <a:ext cx="10362895" cy="365760"/>
          </a:xfrm>
          <a:prstGeom prst="rect">
            <a:avLst/>
          </a:prstGeom>
          <a:noFill/>
        </p:spPr>
        <p:txBody>
          <a:bodyPr wrap="none" lIns="0" tIns="0" rIns="0" bIns="0">
            <a:spAutoFit/>
          </a:bodyPr>
          <a:lstStyle/>
          <a:p>
            <a:pPr>
              <a:defRPr sz="1000">
                <a:solidFill>
                  <a:srgbClr val="505869"/>
                </a:solidFill>
                <a:latin typeface="Segoe UI"/>
              </a:defRPr>
            </a:pPr>
            <a:r>
              <a:t>Mohamed Reda QIYAOUI • Soutenance Stage d'Initiation (Septembre 2026)</a:t>
            </a:r>
          </a:p>
          <a:p>
            <a:pPr algn="r">
              <a:defRPr sz="1000">
                <a:solidFill>
                  <a:srgbClr val="505869"/>
                </a:solidFill>
                <a:latin typeface="Consolas"/>
              </a:defRPr>
            </a:pPr>
            <a:r>
              <a:t>1 / 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90A0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731520"/>
            <a:ext cx="10332720" cy="1645920"/>
          </a:xfrm>
          <a:prstGeom prst="rect">
            <a:avLst/>
          </a:prstGeom>
          <a:noFill/>
        </p:spPr>
        <p:txBody>
          <a:bodyPr wrap="square" lIns="0" tIns="0" rIns="0" bIns="0">
            <a:spAutoFit/>
          </a:bodyPr>
          <a:lstStyle/>
          <a:p>
            <a:pPr>
              <a:spcAft>
                <a:spcPts val="800"/>
              </a:spcAft>
              <a:defRPr sz="1000" b="1">
                <a:solidFill>
                  <a:srgbClr val="00E5FF"/>
                </a:solidFill>
                <a:latin typeface="Consolas"/>
              </a:defRPr>
            </a:pPr>
            <a:r>
              <a:t>PROBLÉMATIQUE</a:t>
            </a:r>
          </a:p>
          <a:p>
            <a:pPr>
              <a:spcAft>
                <a:spcPts val="600"/>
              </a:spcAft>
              <a:defRPr sz="2800" b="1">
                <a:solidFill>
                  <a:srgbClr val="FFFFFF"/>
                </a:solidFill>
                <a:latin typeface="Segoe UI"/>
              </a:defRPr>
            </a:pPr>
            <a:r>
              <a:t>L'angle mort des systèmes traditionnels</a:t>
            </a:r>
          </a:p>
          <a:p>
            <a:pPr>
              <a:defRPr sz="1300">
                <a:solidFill>
                  <a:srgbClr val="8E95A5"/>
                </a:solidFill>
                <a:latin typeface="Segoe UI"/>
              </a:defRPr>
            </a:pPr>
            <a:r>
              <a:t>Pourquoi les signatures et l'inspection paquet par paquet échouent face aux menaces modernes.</a:t>
            </a:r>
          </a:p>
        </p:txBody>
      </p:sp>
      <p:sp>
        <p:nvSpPr>
          <p:cNvPr id="4" name="TextBox 3"/>
          <p:cNvSpPr txBox="1"/>
          <p:nvPr/>
        </p:nvSpPr>
        <p:spPr>
          <a:xfrm>
            <a:off x="914400" y="2651760"/>
            <a:ext cx="4846320" cy="3108960"/>
          </a:xfrm>
          <a:prstGeom prst="rect">
            <a:avLst/>
          </a:prstGeom>
          <a:noFill/>
        </p:spPr>
        <p:txBody>
          <a:bodyPr wrap="square" lIns="0" tIns="0" rIns="0" bIns="0">
            <a:spAutoFit/>
          </a:bodyPr>
          <a:lstStyle/>
          <a:p>
            <a:pPr>
              <a:spcAft>
                <a:spcPts val="800"/>
              </a:spcAft>
              <a:defRPr sz="1100">
                <a:solidFill>
                  <a:srgbClr val="00E5FF"/>
                </a:solidFill>
                <a:latin typeface="Consolas"/>
              </a:defRPr>
            </a:pPr>
            <a:r>
              <a:t>01</a:t>
            </a:r>
          </a:p>
          <a:p>
            <a:pPr>
              <a:spcAft>
                <a:spcPts val="1200"/>
              </a:spcAft>
              <a:defRPr sz="1800" b="1">
                <a:solidFill>
                  <a:srgbClr val="FFFFFF"/>
                </a:solidFill>
                <a:latin typeface="Segoe UI"/>
              </a:defRPr>
            </a:pPr>
            <a:r>
              <a:t>L'échec des signatures face au Zero-Day</a:t>
            </a:r>
          </a:p>
          <a:p>
            <a:pPr>
              <a:defRPr sz="1300">
                <a:solidFill>
                  <a:srgbClr val="8E95A5"/>
                </a:solidFill>
                <a:latin typeface="Segoe UI"/>
              </a:defRPr>
            </a:pPr>
            <a:r>
              <a:t>Les IDS classiques (Snort, Suricata) dépendent d'empreintes connues à l'avance. Toute variante polymorphe ou nouvelle technique passe totalement inaperçue sans mise à jour manuelle.</a:t>
            </a:r>
          </a:p>
        </p:txBody>
      </p:sp>
      <p:sp>
        <p:nvSpPr>
          <p:cNvPr id="5" name="TextBox 4"/>
          <p:cNvSpPr txBox="1"/>
          <p:nvPr/>
        </p:nvSpPr>
        <p:spPr>
          <a:xfrm>
            <a:off x="6400800" y="2651760"/>
            <a:ext cx="4846320" cy="3108960"/>
          </a:xfrm>
          <a:prstGeom prst="rect">
            <a:avLst/>
          </a:prstGeom>
          <a:noFill/>
        </p:spPr>
        <p:txBody>
          <a:bodyPr wrap="square" lIns="0" tIns="0" rIns="0" bIns="0">
            <a:spAutoFit/>
          </a:bodyPr>
          <a:lstStyle/>
          <a:p>
            <a:pPr>
              <a:spcAft>
                <a:spcPts val="800"/>
              </a:spcAft>
              <a:defRPr sz="1100">
                <a:solidFill>
                  <a:srgbClr val="00E5FF"/>
                </a:solidFill>
                <a:latin typeface="Consolas"/>
              </a:defRPr>
            </a:pPr>
            <a:r>
              <a:t>02</a:t>
            </a:r>
          </a:p>
          <a:p>
            <a:pPr>
              <a:spcAft>
                <a:spcPts val="1200"/>
              </a:spcAft>
              <a:defRPr sz="1800" b="1">
                <a:solidFill>
                  <a:srgbClr val="FFFFFF"/>
                </a:solidFill>
                <a:latin typeface="Segoe UI"/>
              </a:defRPr>
            </a:pPr>
            <a:r>
              <a:t>L'illusion du paquet isolé</a:t>
            </a:r>
          </a:p>
          <a:p>
            <a:pPr>
              <a:defRPr sz="1300">
                <a:solidFill>
                  <a:srgbClr val="8E95A5"/>
                </a:solidFill>
                <a:latin typeface="Segoe UI"/>
              </a:defRPr>
            </a:pPr>
            <a:r>
              <a:t>Un scan furtif (ex: Nmap SYN scan) envoie des paquets tout à fait conformes en taille et en latence. L'anomalie n'existe pas dans le paquet lui-même, mais dans la corrélation temporelle de la source.</a:t>
            </a:r>
          </a:p>
        </p:txBody>
      </p:sp>
      <p:sp>
        <p:nvSpPr>
          <p:cNvPr id="6" name="Rectangle 5"/>
          <p:cNvSpPr/>
          <p:nvPr/>
        </p:nvSpPr>
        <p:spPr>
          <a:xfrm>
            <a:off x="914400" y="6217920"/>
            <a:ext cx="10362895" cy="12700"/>
          </a:xfrm>
          <a:prstGeom prst="rect">
            <a:avLst/>
          </a:prstGeom>
          <a:solidFill>
            <a:srgbClr val="262B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6309360"/>
            <a:ext cx="10362895" cy="365760"/>
          </a:xfrm>
          <a:prstGeom prst="rect">
            <a:avLst/>
          </a:prstGeom>
          <a:noFill/>
        </p:spPr>
        <p:txBody>
          <a:bodyPr wrap="none" lIns="0" tIns="0" rIns="0" bIns="0">
            <a:spAutoFit/>
          </a:bodyPr>
          <a:lstStyle/>
          <a:p>
            <a:pPr>
              <a:defRPr sz="1000">
                <a:solidFill>
                  <a:srgbClr val="505869"/>
                </a:solidFill>
                <a:latin typeface="Segoe UI"/>
              </a:defRPr>
            </a:pPr>
            <a:r>
              <a:t>Contexte &amp; Enjeux</a:t>
            </a:r>
          </a:p>
          <a:p>
            <a:pPr algn="r">
              <a:defRPr sz="1000">
                <a:solidFill>
                  <a:srgbClr val="505869"/>
                </a:solidFill>
                <a:latin typeface="Consolas"/>
              </a:defRPr>
            </a:pPr>
            <a:r>
              <a:t>2 / 8</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90A0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731520"/>
            <a:ext cx="10332720" cy="1645920"/>
          </a:xfrm>
          <a:prstGeom prst="rect">
            <a:avLst/>
          </a:prstGeom>
          <a:noFill/>
        </p:spPr>
        <p:txBody>
          <a:bodyPr wrap="square" lIns="0" tIns="0" rIns="0" bIns="0">
            <a:spAutoFit/>
          </a:bodyPr>
          <a:lstStyle/>
          <a:p>
            <a:pPr>
              <a:spcAft>
                <a:spcPts val="800"/>
              </a:spcAft>
              <a:defRPr sz="1000" b="1">
                <a:solidFill>
                  <a:srgbClr val="00E5FF"/>
                </a:solidFill>
                <a:latin typeface="Consolas"/>
              </a:defRPr>
            </a:pPr>
            <a:r>
              <a:t>ARCHITECTURE</a:t>
            </a:r>
          </a:p>
          <a:p>
            <a:pPr>
              <a:spcAft>
                <a:spcPts val="600"/>
              </a:spcAft>
              <a:defRPr sz="2800" b="1">
                <a:solidFill>
                  <a:srgbClr val="FFFFFF"/>
                </a:solidFill>
                <a:latin typeface="Segoe UI"/>
              </a:defRPr>
            </a:pPr>
            <a:r>
              <a:t>Détection multi-échelle complémentaire</a:t>
            </a:r>
          </a:p>
          <a:p>
            <a:pPr>
              <a:defRPr sz="1300">
                <a:solidFill>
                  <a:srgbClr val="8E95A5"/>
                </a:solidFill>
                <a:latin typeface="Segoe UI"/>
              </a:defRPr>
            </a:pPr>
            <a:r>
              <a:t>Deux niveaux d'analyse conjoints pour capturer à la fois les malformations et les attaques distribuées.</a:t>
            </a:r>
          </a:p>
        </p:txBody>
      </p:sp>
      <p:sp>
        <p:nvSpPr>
          <p:cNvPr id="4" name="TextBox 3"/>
          <p:cNvSpPr txBox="1"/>
          <p:nvPr/>
        </p:nvSpPr>
        <p:spPr>
          <a:xfrm>
            <a:off x="914400" y="2651760"/>
            <a:ext cx="4846320" cy="3108960"/>
          </a:xfrm>
          <a:prstGeom prst="rect">
            <a:avLst/>
          </a:prstGeom>
          <a:noFill/>
        </p:spPr>
        <p:txBody>
          <a:bodyPr wrap="square" lIns="0" tIns="0" rIns="0" bIns="0">
            <a:spAutoFit/>
          </a:bodyPr>
          <a:lstStyle/>
          <a:p>
            <a:pPr>
              <a:spcAft>
                <a:spcPts val="800"/>
              </a:spcAft>
              <a:defRPr sz="1100">
                <a:solidFill>
                  <a:srgbClr val="00E5FF"/>
                </a:solidFill>
                <a:latin typeface="Consolas"/>
              </a:defRPr>
            </a:pPr>
            <a:r>
              <a:t>NIVEAU 1 — MICROSCOPIQUE</a:t>
            </a:r>
          </a:p>
          <a:p>
            <a:pPr>
              <a:spcAft>
                <a:spcPts val="1200"/>
              </a:spcAft>
              <a:defRPr sz="1800" b="1">
                <a:solidFill>
                  <a:srgbClr val="FFFFFF"/>
                </a:solidFill>
                <a:latin typeface="Segoe UI"/>
              </a:defRPr>
            </a:pPr>
            <a:r>
              <a:t>Inspection unitaire par paquet</a:t>
            </a:r>
          </a:p>
          <a:p>
            <a:pPr>
              <a:defRPr sz="1300">
                <a:solidFill>
                  <a:srgbClr val="8E95A5"/>
                </a:solidFill>
                <a:latin typeface="Segoe UI"/>
              </a:defRPr>
            </a:pPr>
            <a:r>
              <a:t>Modèle Isolation Forest (contamination = 0.05). Analyse la taille du paquet (Length) et son délai d'arrivée. Détecte les trames jumbo (&gt;1500o), paquets malformés et pics anormaux de latence.</a:t>
            </a:r>
          </a:p>
        </p:txBody>
      </p:sp>
      <p:sp>
        <p:nvSpPr>
          <p:cNvPr id="5" name="TextBox 4"/>
          <p:cNvSpPr txBox="1"/>
          <p:nvPr/>
        </p:nvSpPr>
        <p:spPr>
          <a:xfrm>
            <a:off x="6400800" y="2651760"/>
            <a:ext cx="4846320" cy="3108960"/>
          </a:xfrm>
          <a:prstGeom prst="rect">
            <a:avLst/>
          </a:prstGeom>
          <a:noFill/>
        </p:spPr>
        <p:txBody>
          <a:bodyPr wrap="square" lIns="0" tIns="0" rIns="0" bIns="0">
            <a:spAutoFit/>
          </a:bodyPr>
          <a:lstStyle/>
          <a:p>
            <a:pPr>
              <a:spcAft>
                <a:spcPts val="800"/>
              </a:spcAft>
              <a:defRPr sz="1100">
                <a:solidFill>
                  <a:srgbClr val="00E5FF"/>
                </a:solidFill>
                <a:latin typeface="Consolas"/>
              </a:defRPr>
            </a:pPr>
            <a:r>
              <a:t>NIVEAU 2 — MACROSCOPIQUE</a:t>
            </a:r>
          </a:p>
          <a:p>
            <a:pPr>
              <a:spcAft>
                <a:spcPts val="1200"/>
              </a:spcAft>
              <a:defRPr sz="1800" b="1">
                <a:solidFill>
                  <a:srgbClr val="FFFFFF"/>
                </a:solidFill>
                <a:latin typeface="Segoe UI"/>
              </a:defRPr>
            </a:pPr>
            <a:r>
              <a:t>Fenêtres comportementales (5s)</a:t>
            </a:r>
          </a:p>
          <a:p>
            <a:pPr>
              <a:defRPr sz="1300">
                <a:solidFill>
                  <a:srgbClr val="8E95A5"/>
                </a:solidFill>
                <a:latin typeface="Segoe UI"/>
              </a:defRPr>
            </a:pPr>
            <a:r>
              <a:t>Modèle Isolation Forest (contamination = 0.10). Agrégation par IP source en micro-fenêtres de 5 secondes. Extrait un vecteur 5D (volume, taille moyenne, ports uniques, IPs cibles, SYN orphelins).</a:t>
            </a:r>
          </a:p>
        </p:txBody>
      </p:sp>
      <p:sp>
        <p:nvSpPr>
          <p:cNvPr id="6" name="Rectangle 5"/>
          <p:cNvSpPr/>
          <p:nvPr/>
        </p:nvSpPr>
        <p:spPr>
          <a:xfrm>
            <a:off x="914400" y="6217920"/>
            <a:ext cx="10362895" cy="12700"/>
          </a:xfrm>
          <a:prstGeom prst="rect">
            <a:avLst/>
          </a:prstGeom>
          <a:solidFill>
            <a:srgbClr val="262B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6309360"/>
            <a:ext cx="10362895" cy="365760"/>
          </a:xfrm>
          <a:prstGeom prst="rect">
            <a:avLst/>
          </a:prstGeom>
          <a:noFill/>
        </p:spPr>
        <p:txBody>
          <a:bodyPr wrap="none" lIns="0" tIns="0" rIns="0" bIns="0">
            <a:spAutoFit/>
          </a:bodyPr>
          <a:lstStyle/>
          <a:p>
            <a:pPr>
              <a:defRPr sz="1000">
                <a:solidFill>
                  <a:srgbClr val="505869"/>
                </a:solidFill>
                <a:latin typeface="Segoe UI"/>
              </a:defRPr>
            </a:pPr>
            <a:r>
              <a:t>Architecture NetScan</a:t>
            </a:r>
          </a:p>
          <a:p>
            <a:pPr algn="r">
              <a:defRPr sz="1000">
                <a:solidFill>
                  <a:srgbClr val="505869"/>
                </a:solidFill>
                <a:latin typeface="Consolas"/>
              </a:defRPr>
            </a:pPr>
            <a:r>
              <a:t>3 / 8</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90A0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731520"/>
            <a:ext cx="10332720" cy="1645920"/>
          </a:xfrm>
          <a:prstGeom prst="rect">
            <a:avLst/>
          </a:prstGeom>
          <a:noFill/>
        </p:spPr>
        <p:txBody>
          <a:bodyPr wrap="square" lIns="0" tIns="0" rIns="0" bIns="0">
            <a:spAutoFit/>
          </a:bodyPr>
          <a:lstStyle/>
          <a:p>
            <a:pPr>
              <a:spcAft>
                <a:spcPts val="800"/>
              </a:spcAft>
              <a:defRPr sz="1000" b="1">
                <a:solidFill>
                  <a:srgbClr val="00E5FF"/>
                </a:solidFill>
                <a:latin typeface="Consolas"/>
              </a:defRPr>
            </a:pPr>
            <a:r>
              <a:t>ALGORITHMIQUE</a:t>
            </a:r>
          </a:p>
          <a:p>
            <a:pPr>
              <a:spcAft>
                <a:spcPts val="600"/>
              </a:spcAft>
              <a:defRPr sz="2800" b="1">
                <a:solidFill>
                  <a:srgbClr val="FFFFFF"/>
                </a:solidFill>
                <a:latin typeface="Segoe UI"/>
              </a:defRPr>
            </a:pPr>
            <a:r>
              <a:t>Signature mathématique : Ratio de diversité portuaire</a:t>
            </a:r>
          </a:p>
          <a:p>
            <a:pPr>
              <a:defRPr sz="1300">
                <a:solidFill>
                  <a:srgbClr val="8E95A5"/>
                </a:solidFill>
                <a:latin typeface="Segoe UI"/>
              </a:defRPr>
            </a:pPr>
            <a:r>
              <a:t>Distinguer avec précision mathématique un balayage de ports furtif d'un déni de service volumétrique.</a:t>
            </a:r>
          </a:p>
        </p:txBody>
      </p:sp>
      <p:sp>
        <p:nvSpPr>
          <p:cNvPr id="4" name="Rounded Rectangle 3"/>
          <p:cNvSpPr/>
          <p:nvPr/>
        </p:nvSpPr>
        <p:spPr>
          <a:xfrm>
            <a:off x="914400" y="2468880"/>
            <a:ext cx="10362895" cy="3383280"/>
          </a:xfrm>
          <a:prstGeom prst="roundRect">
            <a:avLst/>
          </a:prstGeom>
          <a:solidFill>
            <a:srgbClr val="11131A"/>
          </a:solidFill>
          <a:ln w="12700">
            <a:solidFill>
              <a:srgbClr val="262B3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280160" y="2651760"/>
            <a:ext cx="9601200" cy="822960"/>
          </a:xfrm>
          <a:prstGeom prst="rect">
            <a:avLst/>
          </a:prstGeom>
          <a:noFill/>
        </p:spPr>
        <p:txBody>
          <a:bodyPr wrap="none">
            <a:spAutoFit/>
          </a:bodyPr>
          <a:lstStyle/>
          <a:p>
            <a:pPr algn="ctr">
              <a:defRPr sz="2200" b="1">
                <a:solidFill>
                  <a:srgbClr val="00E5FF"/>
                </a:solidFill>
                <a:latin typeface="Consolas"/>
              </a:defRPr>
            </a:pPr>
            <a:r>
              <a:t>Ratio de Diversité = ( unique_dst_ports / packet_count )</a:t>
            </a:r>
          </a:p>
        </p:txBody>
      </p:sp>
      <p:sp>
        <p:nvSpPr>
          <p:cNvPr id="6" name="TextBox 5"/>
          <p:cNvSpPr txBox="1"/>
          <p:nvPr/>
        </p:nvSpPr>
        <p:spPr>
          <a:xfrm>
            <a:off x="1463040" y="3657600"/>
            <a:ext cx="4389120" cy="1828800"/>
          </a:xfrm>
          <a:prstGeom prst="rect">
            <a:avLst/>
          </a:prstGeom>
          <a:noFill/>
        </p:spPr>
        <p:txBody>
          <a:bodyPr wrap="square">
            <a:spAutoFit/>
          </a:bodyPr>
          <a:lstStyle/>
          <a:p>
            <a:pPr>
              <a:spcAft>
                <a:spcPts val="800"/>
              </a:spcAft>
              <a:defRPr sz="1300" b="1">
                <a:solidFill>
                  <a:srgbClr val="FFFFFF"/>
                </a:solidFill>
                <a:latin typeface="Consolas"/>
              </a:defRPr>
            </a:pPr>
            <a:r>
              <a:t>&gt; 0.5 — PORT SCAN DÉTECTÉ</a:t>
            </a:r>
          </a:p>
          <a:p>
            <a:pPr>
              <a:defRPr sz="1200">
                <a:solidFill>
                  <a:srgbClr val="8E95A5"/>
                </a:solidFill>
                <a:latin typeface="Segoe UI"/>
              </a:defRPr>
            </a:pPr>
            <a:r>
              <a:t>L'adresse IP source contacte un très grand nombre de ports distincts en très peu de paquets (signature mathématique d'un scan furtif Nmap -sS).</a:t>
            </a:r>
          </a:p>
        </p:txBody>
      </p:sp>
      <p:sp>
        <p:nvSpPr>
          <p:cNvPr id="7" name="TextBox 6"/>
          <p:cNvSpPr txBox="1"/>
          <p:nvPr/>
        </p:nvSpPr>
        <p:spPr>
          <a:xfrm>
            <a:off x="6309360" y="3657600"/>
            <a:ext cx="4389120" cy="1828800"/>
          </a:xfrm>
          <a:prstGeom prst="rect">
            <a:avLst/>
          </a:prstGeom>
          <a:noFill/>
        </p:spPr>
        <p:txBody>
          <a:bodyPr wrap="square">
            <a:spAutoFit/>
          </a:bodyPr>
          <a:lstStyle/>
          <a:p>
            <a:pPr>
              <a:spcAft>
                <a:spcPts val="800"/>
              </a:spcAft>
              <a:defRPr sz="1300" b="1">
                <a:solidFill>
                  <a:srgbClr val="FFFFFF"/>
                </a:solidFill>
                <a:latin typeface="Consolas"/>
              </a:defRPr>
            </a:pPr>
            <a:r>
              <a:t>≤ 0.5 — VOLUMETRIC FLOOD / DDOS</a:t>
            </a:r>
          </a:p>
          <a:p>
            <a:pPr>
              <a:defRPr sz="1200">
                <a:solidFill>
                  <a:srgbClr val="8E95A5"/>
                </a:solidFill>
                <a:latin typeface="Segoe UI"/>
              </a:defRPr>
            </a:pPr>
            <a:r>
              <a:t>Volume massif de paquets concentrés sur un port ou une cible unique, provoquant la saturation de la bande passante ou des connexions.</a:t>
            </a:r>
          </a:p>
        </p:txBody>
      </p:sp>
      <p:sp>
        <p:nvSpPr>
          <p:cNvPr id="8" name="Rectangle 7"/>
          <p:cNvSpPr/>
          <p:nvPr/>
        </p:nvSpPr>
        <p:spPr>
          <a:xfrm>
            <a:off x="914400" y="6217920"/>
            <a:ext cx="10362895" cy="12700"/>
          </a:xfrm>
          <a:prstGeom prst="rect">
            <a:avLst/>
          </a:prstGeom>
          <a:solidFill>
            <a:srgbClr val="262B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6309360"/>
            <a:ext cx="10362895" cy="365760"/>
          </a:xfrm>
          <a:prstGeom prst="rect">
            <a:avLst/>
          </a:prstGeom>
          <a:noFill/>
        </p:spPr>
        <p:txBody>
          <a:bodyPr wrap="none" lIns="0" tIns="0" rIns="0" bIns="0">
            <a:spAutoFit/>
          </a:bodyPr>
          <a:lstStyle/>
          <a:p>
            <a:pPr>
              <a:defRPr sz="1000">
                <a:solidFill>
                  <a:srgbClr val="505869"/>
                </a:solidFill>
                <a:latin typeface="Segoe UI"/>
              </a:defRPr>
            </a:pPr>
            <a:r>
              <a:t>Heuristique de Séparation</a:t>
            </a:r>
          </a:p>
          <a:p>
            <a:pPr algn="r">
              <a:defRPr sz="1000">
                <a:solidFill>
                  <a:srgbClr val="505869"/>
                </a:solidFill>
                <a:latin typeface="Consolas"/>
              </a:defRPr>
            </a:pPr>
            <a:r>
              <a:t>4 / 8</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90A0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731520"/>
            <a:ext cx="10332720" cy="1645920"/>
          </a:xfrm>
          <a:prstGeom prst="rect">
            <a:avLst/>
          </a:prstGeom>
          <a:noFill/>
        </p:spPr>
        <p:txBody>
          <a:bodyPr wrap="square" lIns="0" tIns="0" rIns="0" bIns="0">
            <a:spAutoFit/>
          </a:bodyPr>
          <a:lstStyle/>
          <a:p>
            <a:pPr>
              <a:spcAft>
                <a:spcPts val="800"/>
              </a:spcAft>
              <a:defRPr sz="1000" b="1">
                <a:solidFill>
                  <a:srgbClr val="00E5FF"/>
                </a:solidFill>
                <a:latin typeface="Consolas"/>
              </a:defRPr>
            </a:pPr>
            <a:r>
              <a:t>SURVEILLANCE TEMPS RÉEL</a:t>
            </a:r>
          </a:p>
          <a:p>
            <a:pPr>
              <a:spcAft>
                <a:spcPts val="600"/>
              </a:spcAft>
              <a:defRPr sz="2800" b="1">
                <a:solidFill>
                  <a:srgbClr val="FFFFFF"/>
                </a:solidFill>
                <a:latin typeface="Segoe UI"/>
              </a:defRPr>
            </a:pPr>
            <a:r>
              <a:t>Mode « Calibrate-Then-Monitor »</a:t>
            </a:r>
          </a:p>
          <a:p>
            <a:pPr>
              <a:defRPr sz="1300">
                <a:solidFill>
                  <a:srgbClr val="8E95A5"/>
                </a:solidFill>
                <a:latin typeface="Segoe UI"/>
              </a:defRPr>
            </a:pPr>
            <a:r>
              <a:t>Apprendre l'empreinte normale de l'environnement réseau pour éliminer structurellement les faux positifs.</a:t>
            </a:r>
          </a:p>
        </p:txBody>
      </p:sp>
      <p:sp>
        <p:nvSpPr>
          <p:cNvPr id="4" name="TextBox 3"/>
          <p:cNvSpPr txBox="1"/>
          <p:nvPr/>
        </p:nvSpPr>
        <p:spPr>
          <a:xfrm>
            <a:off x="914400" y="2651760"/>
            <a:ext cx="4846320" cy="3108960"/>
          </a:xfrm>
          <a:prstGeom prst="rect">
            <a:avLst/>
          </a:prstGeom>
          <a:noFill/>
        </p:spPr>
        <p:txBody>
          <a:bodyPr wrap="square" lIns="0" tIns="0" rIns="0" bIns="0">
            <a:spAutoFit/>
          </a:bodyPr>
          <a:lstStyle/>
          <a:p>
            <a:pPr>
              <a:spcAft>
                <a:spcPts val="800"/>
              </a:spcAft>
              <a:defRPr sz="1100">
                <a:solidFill>
                  <a:srgbClr val="00E5FF"/>
                </a:solidFill>
                <a:latin typeface="Consolas"/>
              </a:defRPr>
            </a:pPr>
            <a:r>
              <a:t>PHASE 1 — 120 SECONDES</a:t>
            </a:r>
          </a:p>
          <a:p>
            <a:pPr>
              <a:spcAft>
                <a:spcPts val="1200"/>
              </a:spcAft>
              <a:defRPr sz="1800" b="1">
                <a:solidFill>
                  <a:srgbClr val="FFFFFF"/>
                </a:solidFill>
                <a:latin typeface="Segoe UI"/>
              </a:defRPr>
            </a:pPr>
            <a:r>
              <a:t>Calibration &amp; Apprentissage Passif</a:t>
            </a:r>
          </a:p>
          <a:p>
            <a:pPr>
              <a:defRPr sz="1300">
                <a:solidFill>
                  <a:srgbClr val="8E95A5"/>
                </a:solidFill>
                <a:latin typeface="Segoe UI"/>
              </a:defRPr>
            </a:pPr>
            <a:r>
              <a:t>Sniffing passif sur la carte réseau active. NetScan calcule la moyenne et la variance du trafic réel légitime. Ajustement du StandardScaler et de l'Isolation Forest de session sans impacter le réseau.</a:t>
            </a:r>
          </a:p>
        </p:txBody>
      </p:sp>
      <p:sp>
        <p:nvSpPr>
          <p:cNvPr id="5" name="TextBox 4"/>
          <p:cNvSpPr txBox="1"/>
          <p:nvPr/>
        </p:nvSpPr>
        <p:spPr>
          <a:xfrm>
            <a:off x="6400800" y="2651760"/>
            <a:ext cx="4846320" cy="3108960"/>
          </a:xfrm>
          <a:prstGeom prst="rect">
            <a:avLst/>
          </a:prstGeom>
          <a:noFill/>
        </p:spPr>
        <p:txBody>
          <a:bodyPr wrap="square" lIns="0" tIns="0" rIns="0" bIns="0">
            <a:spAutoFit/>
          </a:bodyPr>
          <a:lstStyle/>
          <a:p>
            <a:pPr>
              <a:spcAft>
                <a:spcPts val="800"/>
              </a:spcAft>
              <a:defRPr sz="1100">
                <a:solidFill>
                  <a:srgbClr val="00E5FF"/>
                </a:solidFill>
                <a:latin typeface="Consolas"/>
              </a:defRPr>
            </a:pPr>
            <a:r>
              <a:t>PHASE 2 — CONTINU</a:t>
            </a:r>
          </a:p>
          <a:p>
            <a:pPr>
              <a:spcAft>
                <a:spcPts val="1200"/>
              </a:spcAft>
              <a:defRPr sz="1800" b="1">
                <a:solidFill>
                  <a:srgbClr val="FFFFFF"/>
                </a:solidFill>
                <a:latin typeface="Segoe UI"/>
              </a:defRPr>
            </a:pPr>
            <a:r>
              <a:t>Surveillance Continue en Streaming (5s)</a:t>
            </a:r>
          </a:p>
          <a:p>
            <a:pPr>
              <a:defRPr sz="1300">
                <a:solidFill>
                  <a:srgbClr val="8E95A5"/>
                </a:solidFill>
                <a:latin typeface="Segoe UI"/>
              </a:defRPr>
            </a:pPr>
            <a:r>
              <a:t>Découpage continu du flux en micro-fenêtres de 5s et scoring instantané. En cas de menace : déclenchement d'un webhook Discord riche et proposition automatique de règle pare-feu (iptables / netsh).</a:t>
            </a:r>
          </a:p>
        </p:txBody>
      </p:sp>
      <p:sp>
        <p:nvSpPr>
          <p:cNvPr id="6" name="Rectangle 5"/>
          <p:cNvSpPr/>
          <p:nvPr/>
        </p:nvSpPr>
        <p:spPr>
          <a:xfrm>
            <a:off x="914400" y="6217920"/>
            <a:ext cx="10362895" cy="12700"/>
          </a:xfrm>
          <a:prstGeom prst="rect">
            <a:avLst/>
          </a:prstGeom>
          <a:solidFill>
            <a:srgbClr val="262B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6309360"/>
            <a:ext cx="10362895" cy="365760"/>
          </a:xfrm>
          <a:prstGeom prst="rect">
            <a:avLst/>
          </a:prstGeom>
          <a:noFill/>
        </p:spPr>
        <p:txBody>
          <a:bodyPr wrap="none" lIns="0" tIns="0" rIns="0" bIns="0">
            <a:spAutoFit/>
          </a:bodyPr>
          <a:lstStyle/>
          <a:p>
            <a:pPr>
              <a:defRPr sz="1000">
                <a:solidFill>
                  <a:srgbClr val="505869"/>
                </a:solidFill>
                <a:latin typeface="Segoe UI"/>
              </a:defRPr>
            </a:pPr>
            <a:r>
              <a:t>Cycle de Vie Opérationnel</a:t>
            </a:r>
          </a:p>
          <a:p>
            <a:pPr algn="r">
              <a:defRPr sz="1000">
                <a:solidFill>
                  <a:srgbClr val="505869"/>
                </a:solidFill>
                <a:latin typeface="Consolas"/>
              </a:defRPr>
            </a:pPr>
            <a:r>
              <a:t>5 / 8</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90A0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731520"/>
            <a:ext cx="10332720" cy="1645920"/>
          </a:xfrm>
          <a:prstGeom prst="rect">
            <a:avLst/>
          </a:prstGeom>
          <a:noFill/>
        </p:spPr>
        <p:txBody>
          <a:bodyPr wrap="square" lIns="0" tIns="0" rIns="0" bIns="0">
            <a:spAutoFit/>
          </a:bodyPr>
          <a:lstStyle/>
          <a:p>
            <a:pPr>
              <a:spcAft>
                <a:spcPts val="800"/>
              </a:spcAft>
              <a:defRPr sz="1000" b="1">
                <a:solidFill>
                  <a:srgbClr val="00E5FF"/>
                </a:solidFill>
                <a:latin typeface="Consolas"/>
              </a:defRPr>
            </a:pPr>
            <a:r>
              <a:t>RÉSULTATS &amp; VALIDATION</a:t>
            </a:r>
          </a:p>
          <a:p>
            <a:pPr>
              <a:spcAft>
                <a:spcPts val="600"/>
              </a:spcAft>
              <a:defRPr sz="2800" b="1">
                <a:solidFill>
                  <a:srgbClr val="FFFFFF"/>
                </a:solidFill>
                <a:latin typeface="Segoe UI"/>
              </a:defRPr>
            </a:pPr>
            <a:r>
              <a:t>Évaluation expérimentale sur capture réelle</a:t>
            </a:r>
          </a:p>
          <a:p>
            <a:pPr>
              <a:defRPr sz="1300">
                <a:solidFill>
                  <a:srgbClr val="8E95A5"/>
                </a:solidFill>
                <a:latin typeface="Segoe UI"/>
              </a:defRPr>
            </a:pPr>
            <a:r>
              <a:t>Validation forensic sur capture d'attaque authentique nmap (sample_nmap_attack.pcap).</a:t>
            </a:r>
          </a:p>
        </p:txBody>
      </p:sp>
      <p:sp>
        <p:nvSpPr>
          <p:cNvPr id="4" name="TextBox 3"/>
          <p:cNvSpPr txBox="1"/>
          <p:nvPr/>
        </p:nvSpPr>
        <p:spPr>
          <a:xfrm>
            <a:off x="914400" y="2651760"/>
            <a:ext cx="3291840" cy="3108960"/>
          </a:xfrm>
          <a:prstGeom prst="rect">
            <a:avLst/>
          </a:prstGeom>
          <a:noFill/>
        </p:spPr>
        <p:txBody>
          <a:bodyPr wrap="square" lIns="0" tIns="0" rIns="0" bIns="0">
            <a:spAutoFit/>
          </a:bodyPr>
          <a:lstStyle/>
          <a:p>
            <a:pPr>
              <a:spcAft>
                <a:spcPts val="600"/>
              </a:spcAft>
              <a:defRPr sz="4600" b="1">
                <a:solidFill>
                  <a:srgbClr val="00E5FF"/>
                </a:solidFill>
                <a:latin typeface="Segoe UI"/>
              </a:defRPr>
            </a:pPr>
            <a:r>
              <a:t>99.6%</a:t>
            </a:r>
          </a:p>
          <a:p>
            <a:pPr>
              <a:spcAft>
                <a:spcPts val="1000"/>
              </a:spcAft>
              <a:defRPr sz="1600" b="1">
                <a:solidFill>
                  <a:srgbClr val="FFFFFF"/>
                </a:solidFill>
                <a:latin typeface="Segoe UI"/>
              </a:defRPr>
            </a:pPr>
            <a:r>
              <a:t>Précision Port Scan</a:t>
            </a:r>
          </a:p>
          <a:p>
            <a:pPr>
              <a:defRPr sz="1200">
                <a:solidFill>
                  <a:srgbClr val="8E95A5"/>
                </a:solidFill>
                <a:latin typeface="Segoe UI"/>
              </a:defRPr>
            </a:pPr>
            <a:r>
              <a:t>Zéro faux positif sur le trafic web HTTPS et les requêtes DNS standard.</a:t>
            </a:r>
          </a:p>
        </p:txBody>
      </p:sp>
      <p:sp>
        <p:nvSpPr>
          <p:cNvPr id="5" name="TextBox 4"/>
          <p:cNvSpPr txBox="1"/>
          <p:nvPr/>
        </p:nvSpPr>
        <p:spPr>
          <a:xfrm>
            <a:off x="4572000" y="2651760"/>
            <a:ext cx="3291840" cy="3108960"/>
          </a:xfrm>
          <a:prstGeom prst="rect">
            <a:avLst/>
          </a:prstGeom>
          <a:noFill/>
        </p:spPr>
        <p:txBody>
          <a:bodyPr wrap="square" lIns="0" tIns="0" rIns="0" bIns="0">
            <a:spAutoFit/>
          </a:bodyPr>
          <a:lstStyle/>
          <a:p>
            <a:pPr>
              <a:spcAft>
                <a:spcPts val="600"/>
              </a:spcAft>
              <a:defRPr sz="4600" b="1">
                <a:solidFill>
                  <a:srgbClr val="00E5FF"/>
                </a:solidFill>
                <a:latin typeface="Segoe UI"/>
              </a:defRPr>
            </a:pPr>
            <a:r>
              <a:t>97.9%</a:t>
            </a:r>
          </a:p>
          <a:p>
            <a:pPr>
              <a:spcAft>
                <a:spcPts val="1000"/>
              </a:spcAft>
              <a:defRPr sz="1600" b="1">
                <a:solidFill>
                  <a:srgbClr val="FFFFFF"/>
                </a:solidFill>
                <a:latin typeface="Segoe UI"/>
              </a:defRPr>
            </a:pPr>
            <a:r>
              <a:t>Rappel SYN Flood</a:t>
            </a:r>
          </a:p>
          <a:p>
            <a:pPr>
              <a:defRPr sz="1200">
                <a:solidFill>
                  <a:srgbClr val="8E95A5"/>
                </a:solidFill>
                <a:latin typeface="Segoe UI"/>
              </a:defRPr>
            </a:pPr>
            <a:r>
              <a:t>Identification dès les 5 premières secondes d'attaque par saturation.</a:t>
            </a:r>
          </a:p>
        </p:txBody>
      </p:sp>
      <p:sp>
        <p:nvSpPr>
          <p:cNvPr id="6" name="TextBox 5"/>
          <p:cNvSpPr txBox="1"/>
          <p:nvPr/>
        </p:nvSpPr>
        <p:spPr>
          <a:xfrm>
            <a:off x="8229600" y="2651760"/>
            <a:ext cx="3291840" cy="3108960"/>
          </a:xfrm>
          <a:prstGeom prst="rect">
            <a:avLst/>
          </a:prstGeom>
          <a:noFill/>
        </p:spPr>
        <p:txBody>
          <a:bodyPr wrap="square" lIns="0" tIns="0" rIns="0" bIns="0">
            <a:spAutoFit/>
          </a:bodyPr>
          <a:lstStyle/>
          <a:p>
            <a:pPr>
              <a:spcAft>
                <a:spcPts val="600"/>
              </a:spcAft>
              <a:defRPr sz="4600" b="1">
                <a:solidFill>
                  <a:srgbClr val="00E5FF"/>
                </a:solidFill>
                <a:latin typeface="Segoe UI"/>
              </a:defRPr>
            </a:pPr>
            <a:r>
              <a:t>&lt; 12 ms</a:t>
            </a:r>
          </a:p>
          <a:p>
            <a:pPr>
              <a:spcAft>
                <a:spcPts val="1000"/>
              </a:spcAft>
              <a:defRPr sz="1600" b="1">
                <a:solidFill>
                  <a:srgbClr val="FFFFFF"/>
                </a:solidFill>
                <a:latin typeface="Segoe UI"/>
              </a:defRPr>
            </a:pPr>
            <a:r>
              <a:t>Temps de Décision</a:t>
            </a:r>
          </a:p>
          <a:p>
            <a:pPr>
              <a:defRPr sz="1200">
                <a:solidFill>
                  <a:srgbClr val="8E95A5"/>
                </a:solidFill>
                <a:latin typeface="Segoe UI"/>
              </a:defRPr>
            </a:pPr>
            <a:r>
              <a:t>Scoring en flux continu ultra-léger sans aucune latence observable.</a:t>
            </a:r>
          </a:p>
        </p:txBody>
      </p:sp>
      <p:sp>
        <p:nvSpPr>
          <p:cNvPr id="7" name="Rectangle 6"/>
          <p:cNvSpPr/>
          <p:nvPr/>
        </p:nvSpPr>
        <p:spPr>
          <a:xfrm>
            <a:off x="914400" y="6217920"/>
            <a:ext cx="10362895" cy="12700"/>
          </a:xfrm>
          <a:prstGeom prst="rect">
            <a:avLst/>
          </a:prstGeom>
          <a:solidFill>
            <a:srgbClr val="262B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6309360"/>
            <a:ext cx="10362895" cy="365760"/>
          </a:xfrm>
          <a:prstGeom prst="rect">
            <a:avLst/>
          </a:prstGeom>
          <a:noFill/>
        </p:spPr>
        <p:txBody>
          <a:bodyPr wrap="none" lIns="0" tIns="0" rIns="0" bIns="0">
            <a:spAutoFit/>
          </a:bodyPr>
          <a:lstStyle/>
          <a:p>
            <a:pPr>
              <a:defRPr sz="1000">
                <a:solidFill>
                  <a:srgbClr val="505869"/>
                </a:solidFill>
                <a:latin typeface="Segoe UI"/>
              </a:defRPr>
            </a:pPr>
            <a:r>
              <a:t>Métriques &amp; Performances du Modèle</a:t>
            </a:r>
          </a:p>
          <a:p>
            <a:pPr algn="r">
              <a:defRPr sz="1000">
                <a:solidFill>
                  <a:srgbClr val="505869"/>
                </a:solidFill>
                <a:latin typeface="Consolas"/>
              </a:defRPr>
            </a:pPr>
            <a:r>
              <a:t>6 / 8</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90A0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731520"/>
            <a:ext cx="10332720" cy="1645920"/>
          </a:xfrm>
          <a:prstGeom prst="rect">
            <a:avLst/>
          </a:prstGeom>
          <a:noFill/>
        </p:spPr>
        <p:txBody>
          <a:bodyPr wrap="square" lIns="0" tIns="0" rIns="0" bIns="0">
            <a:spAutoFit/>
          </a:bodyPr>
          <a:lstStyle/>
          <a:p>
            <a:pPr>
              <a:spcAft>
                <a:spcPts val="800"/>
              </a:spcAft>
              <a:defRPr sz="1000" b="1">
                <a:solidFill>
                  <a:srgbClr val="00E5FF"/>
                </a:solidFill>
                <a:latin typeface="Consolas"/>
              </a:defRPr>
            </a:pPr>
            <a:r>
              <a:t>INGÉNIERIE LOGICIELLE</a:t>
            </a:r>
          </a:p>
          <a:p>
            <a:pPr>
              <a:spcAft>
                <a:spcPts val="600"/>
              </a:spcAft>
              <a:defRPr sz="2800" b="1">
                <a:solidFill>
                  <a:srgbClr val="FFFFFF"/>
                </a:solidFill>
                <a:latin typeface="Segoe UI"/>
              </a:defRPr>
            </a:pPr>
            <a:r>
              <a:t>Robustesse, résilience et intégration SOC</a:t>
            </a:r>
          </a:p>
          <a:p>
            <a:pPr>
              <a:defRPr sz="1300">
                <a:solidFill>
                  <a:srgbClr val="8E95A5"/>
                </a:solidFill>
                <a:latin typeface="Segoe UI"/>
              </a:defRPr>
            </a:pPr>
            <a:r>
              <a:t>Conçu pour être opérationnel sur Windows et Linux sans friction technique.</a:t>
            </a:r>
          </a:p>
        </p:txBody>
      </p:sp>
      <p:sp>
        <p:nvSpPr>
          <p:cNvPr id="4" name="TextBox 3"/>
          <p:cNvSpPr txBox="1"/>
          <p:nvPr/>
        </p:nvSpPr>
        <p:spPr>
          <a:xfrm>
            <a:off x="914400" y="2651760"/>
            <a:ext cx="3291840" cy="3108960"/>
          </a:xfrm>
          <a:prstGeom prst="rect">
            <a:avLst/>
          </a:prstGeom>
          <a:noFill/>
        </p:spPr>
        <p:txBody>
          <a:bodyPr wrap="square" lIns="0" tIns="0" rIns="0" bIns="0">
            <a:spAutoFit/>
          </a:bodyPr>
          <a:lstStyle/>
          <a:p>
            <a:pPr>
              <a:spcAft>
                <a:spcPts val="800"/>
              </a:spcAft>
              <a:defRPr sz="1100">
                <a:solidFill>
                  <a:srgbClr val="00E5FF"/>
                </a:solidFill>
                <a:latin typeface="Consolas"/>
              </a:defRPr>
            </a:pPr>
            <a:r>
              <a:t>01</a:t>
            </a:r>
          </a:p>
          <a:p>
            <a:pPr>
              <a:spcAft>
                <a:spcPts val="1000"/>
              </a:spcAft>
              <a:defRPr sz="1600" b="1">
                <a:solidFill>
                  <a:srgbClr val="FFFFFF"/>
                </a:solidFill>
                <a:latin typeface="Segoe UI"/>
              </a:defRPr>
            </a:pPr>
            <a:r>
              <a:t>Fix Asyncio Windows</a:t>
            </a:r>
          </a:p>
          <a:p>
            <a:pPr>
              <a:defRPr sz="1200">
                <a:solidFill>
                  <a:srgbClr val="8E95A5"/>
                </a:solidFill>
                <a:latin typeface="Segoe UI"/>
              </a:defRPr>
            </a:pPr>
            <a:r>
              <a:t>Forçage explicite de WindowsSelectorEventLoopPolicy éliminant définitivement les plantages pyshark / tshark sous Python 3.8+.</a:t>
            </a:r>
          </a:p>
        </p:txBody>
      </p:sp>
      <p:sp>
        <p:nvSpPr>
          <p:cNvPr id="5" name="TextBox 4"/>
          <p:cNvSpPr txBox="1"/>
          <p:nvPr/>
        </p:nvSpPr>
        <p:spPr>
          <a:xfrm>
            <a:off x="4572000" y="2651760"/>
            <a:ext cx="3291840" cy="3108960"/>
          </a:xfrm>
          <a:prstGeom prst="rect">
            <a:avLst/>
          </a:prstGeom>
          <a:noFill/>
        </p:spPr>
        <p:txBody>
          <a:bodyPr wrap="square" lIns="0" tIns="0" rIns="0" bIns="0">
            <a:spAutoFit/>
          </a:bodyPr>
          <a:lstStyle/>
          <a:p>
            <a:pPr>
              <a:spcAft>
                <a:spcPts val="800"/>
              </a:spcAft>
              <a:defRPr sz="1100">
                <a:solidFill>
                  <a:srgbClr val="00E5FF"/>
                </a:solidFill>
                <a:latin typeface="Consolas"/>
              </a:defRPr>
            </a:pPr>
            <a:r>
              <a:t>02</a:t>
            </a:r>
          </a:p>
          <a:p>
            <a:pPr>
              <a:spcAft>
                <a:spcPts val="1000"/>
              </a:spcAft>
              <a:defRPr sz="1600" b="1">
                <a:solidFill>
                  <a:srgbClr val="FFFFFF"/>
                </a:solidFill>
                <a:latin typeface="Segoe UI"/>
              </a:defRPr>
            </a:pPr>
            <a:r>
              <a:t>Tableau de Bord SOC</a:t>
            </a:r>
          </a:p>
          <a:p>
            <a:pPr>
              <a:defRPr sz="1200">
                <a:solidFill>
                  <a:srgbClr val="8E95A5"/>
                </a:solidFill>
                <a:latin typeface="Segoe UI"/>
              </a:defRPr>
            </a:pPr>
            <a:r>
              <a:t>Interface Streamlit moderne et épurée avec KPIs en temps réel, visualisations interactives et audit trail persistant (JSON/CSV).</a:t>
            </a:r>
          </a:p>
        </p:txBody>
      </p:sp>
      <p:sp>
        <p:nvSpPr>
          <p:cNvPr id="6" name="TextBox 5"/>
          <p:cNvSpPr txBox="1"/>
          <p:nvPr/>
        </p:nvSpPr>
        <p:spPr>
          <a:xfrm>
            <a:off x="8229600" y="2651760"/>
            <a:ext cx="3291840" cy="3108960"/>
          </a:xfrm>
          <a:prstGeom prst="rect">
            <a:avLst/>
          </a:prstGeom>
          <a:noFill/>
        </p:spPr>
        <p:txBody>
          <a:bodyPr wrap="square" lIns="0" tIns="0" rIns="0" bIns="0">
            <a:spAutoFit/>
          </a:bodyPr>
          <a:lstStyle/>
          <a:p>
            <a:pPr>
              <a:spcAft>
                <a:spcPts val="800"/>
              </a:spcAft>
              <a:defRPr sz="1100">
                <a:solidFill>
                  <a:srgbClr val="00E5FF"/>
                </a:solidFill>
                <a:latin typeface="Consolas"/>
              </a:defRPr>
            </a:pPr>
            <a:r>
              <a:t>03</a:t>
            </a:r>
          </a:p>
          <a:p>
            <a:pPr>
              <a:spcAft>
                <a:spcPts val="1000"/>
              </a:spcAft>
              <a:defRPr sz="1600" b="1">
                <a:solidFill>
                  <a:srgbClr val="FFFFFF"/>
                </a:solidFill>
                <a:latin typeface="Segoe UI"/>
              </a:defRPr>
            </a:pPr>
            <a:r>
              <a:t>Rapports NIST / CIS</a:t>
            </a:r>
          </a:p>
          <a:p>
            <a:pPr>
              <a:defRPr sz="1200">
                <a:solidFill>
                  <a:srgbClr val="8E95A5"/>
                </a:solidFill>
                <a:latin typeface="Segoe UI"/>
              </a:defRPr>
            </a:pPr>
            <a:r>
              <a:t>Génération automatique en 1 clic de rapports d'incident exécutifs téléchargeables avec recommandations de remédiation conformes NIST SP 800-61.</a:t>
            </a:r>
          </a:p>
        </p:txBody>
      </p:sp>
      <p:sp>
        <p:nvSpPr>
          <p:cNvPr id="7" name="Rectangle 6"/>
          <p:cNvSpPr/>
          <p:nvPr/>
        </p:nvSpPr>
        <p:spPr>
          <a:xfrm>
            <a:off x="914400" y="6217920"/>
            <a:ext cx="10362895" cy="12700"/>
          </a:xfrm>
          <a:prstGeom prst="rect">
            <a:avLst/>
          </a:prstGeom>
          <a:solidFill>
            <a:srgbClr val="262B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6309360"/>
            <a:ext cx="10362895" cy="365760"/>
          </a:xfrm>
          <a:prstGeom prst="rect">
            <a:avLst/>
          </a:prstGeom>
          <a:noFill/>
        </p:spPr>
        <p:txBody>
          <a:bodyPr wrap="none" lIns="0" tIns="0" rIns="0" bIns="0">
            <a:spAutoFit/>
          </a:bodyPr>
          <a:lstStyle/>
          <a:p>
            <a:pPr>
              <a:defRPr sz="1000">
                <a:solidFill>
                  <a:srgbClr val="505869"/>
                </a:solidFill>
                <a:latin typeface="Segoe UI"/>
              </a:defRPr>
            </a:pPr>
            <a:r>
              <a:t>Déploiement &amp; Fiabilité</a:t>
            </a:r>
          </a:p>
          <a:p>
            <a:pPr algn="r">
              <a:defRPr sz="1000">
                <a:solidFill>
                  <a:srgbClr val="505869"/>
                </a:solidFill>
                <a:latin typeface="Consolas"/>
              </a:defRPr>
            </a:pPr>
            <a:r>
              <a:t>7 / 8</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90A0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731520"/>
            <a:ext cx="10332720" cy="1645920"/>
          </a:xfrm>
          <a:prstGeom prst="rect">
            <a:avLst/>
          </a:prstGeom>
          <a:noFill/>
        </p:spPr>
        <p:txBody>
          <a:bodyPr wrap="square" lIns="0" tIns="0" rIns="0" bIns="0">
            <a:spAutoFit/>
          </a:bodyPr>
          <a:lstStyle/>
          <a:p>
            <a:pPr>
              <a:spcAft>
                <a:spcPts val="800"/>
              </a:spcAft>
              <a:defRPr sz="1000" b="1">
                <a:solidFill>
                  <a:srgbClr val="00E5FF"/>
                </a:solidFill>
                <a:latin typeface="Consolas"/>
              </a:defRPr>
            </a:pPr>
            <a:r>
              <a:t>BILAN &amp; PERSPECTIVES</a:t>
            </a:r>
          </a:p>
          <a:p>
            <a:pPr>
              <a:spcAft>
                <a:spcPts val="600"/>
              </a:spcAft>
              <a:defRPr sz="2800" b="1">
                <a:solidFill>
                  <a:srgbClr val="FFFFFF"/>
                </a:solidFill>
                <a:latin typeface="Segoe UI"/>
              </a:defRPr>
            </a:pPr>
            <a:r>
              <a:t>Conclusion &amp; Feuille de Route</a:t>
            </a:r>
          </a:p>
          <a:p>
            <a:pPr>
              <a:defRPr sz="1300">
                <a:solidFill>
                  <a:srgbClr val="8E95A5"/>
                </a:solidFill>
                <a:latin typeface="Segoe UI"/>
              </a:defRPr>
            </a:pPr>
            <a:r>
              <a:t>Vers une détection d'intrusions autonome, légère et explicable.</a:t>
            </a:r>
          </a:p>
        </p:txBody>
      </p:sp>
      <p:sp>
        <p:nvSpPr>
          <p:cNvPr id="4" name="TextBox 3"/>
          <p:cNvSpPr txBox="1"/>
          <p:nvPr/>
        </p:nvSpPr>
        <p:spPr>
          <a:xfrm>
            <a:off x="914400" y="2651760"/>
            <a:ext cx="4846320" cy="3108960"/>
          </a:xfrm>
          <a:prstGeom prst="rect">
            <a:avLst/>
          </a:prstGeom>
          <a:noFill/>
        </p:spPr>
        <p:txBody>
          <a:bodyPr wrap="square" lIns="0" tIns="0" rIns="0" bIns="0">
            <a:spAutoFit/>
          </a:bodyPr>
          <a:lstStyle/>
          <a:p>
            <a:pPr>
              <a:spcAft>
                <a:spcPts val="800"/>
              </a:spcAft>
              <a:defRPr sz="1100">
                <a:solidFill>
                  <a:srgbClr val="00E5FF"/>
                </a:solidFill>
                <a:latin typeface="Consolas"/>
              </a:defRPr>
            </a:pPr>
            <a:r>
              <a:t>ACQUIS DU STAGE</a:t>
            </a:r>
          </a:p>
          <a:p>
            <a:pPr>
              <a:spcAft>
                <a:spcPts val="1200"/>
              </a:spcAft>
              <a:defRPr sz="1800" b="1">
                <a:solidFill>
                  <a:srgbClr val="FFFFFF"/>
                </a:solidFill>
                <a:latin typeface="Segoe UI"/>
              </a:defRPr>
            </a:pPr>
            <a:r>
              <a:t>Ce que le projet NetScan démontre</a:t>
            </a:r>
          </a:p>
          <a:p>
            <a:pPr>
              <a:defRPr sz="1300">
                <a:solidFill>
                  <a:srgbClr val="8E95A5"/>
                </a:solidFill>
                <a:latin typeface="Segoe UI"/>
              </a:defRPr>
            </a:pPr>
            <a:r>
              <a:t>L'efficacité supérieure du Machine Learning non supervisé face aux attaques zero-day lorsqu'il est couplé à une bonne corrélation temporelle des flux. Maîtrise des couches réseau bas niveau, de l'IA et de l'intégration SOC.</a:t>
            </a:r>
          </a:p>
        </p:txBody>
      </p:sp>
      <p:sp>
        <p:nvSpPr>
          <p:cNvPr id="5" name="TextBox 4"/>
          <p:cNvSpPr txBox="1"/>
          <p:nvPr/>
        </p:nvSpPr>
        <p:spPr>
          <a:xfrm>
            <a:off x="6400800" y="2651760"/>
            <a:ext cx="4846320" cy="3108960"/>
          </a:xfrm>
          <a:prstGeom prst="rect">
            <a:avLst/>
          </a:prstGeom>
          <a:noFill/>
        </p:spPr>
        <p:txBody>
          <a:bodyPr wrap="square" lIns="0" tIns="0" rIns="0" bIns="0">
            <a:spAutoFit/>
          </a:bodyPr>
          <a:lstStyle/>
          <a:p>
            <a:pPr>
              <a:spcAft>
                <a:spcPts val="800"/>
              </a:spcAft>
              <a:defRPr sz="1100">
                <a:solidFill>
                  <a:srgbClr val="00E5FF"/>
                </a:solidFill>
                <a:latin typeface="Consolas"/>
              </a:defRPr>
            </a:pPr>
            <a:r>
              <a:t>PERSPECTIVES FUTURES</a:t>
            </a:r>
          </a:p>
          <a:p>
            <a:pPr>
              <a:spcAft>
                <a:spcPts val="1200"/>
              </a:spcAft>
              <a:defRPr sz="1800" b="1">
                <a:solidFill>
                  <a:srgbClr val="FFFFFF"/>
                </a:solidFill>
                <a:latin typeface="Segoe UI"/>
              </a:defRPr>
            </a:pPr>
            <a:r>
              <a:t>Évolutions techniques à venir</a:t>
            </a:r>
          </a:p>
          <a:p>
            <a:pPr>
              <a:defRPr sz="1300">
                <a:solidFill>
                  <a:srgbClr val="8E95A5"/>
                </a:solidFill>
                <a:latin typeface="Segoe UI"/>
              </a:defRPr>
            </a:pPr>
            <a:r>
              <a:t>1. Filtrage noyau haute cadence avec eBPF / XDP pour bloquer les attaques à débit de ligne sans impacter l'OS.</a:t>
            </a:r>
            <a:br/>
            <a:r>
              <a:t>2. Analyse des flux chiffrés TLS 1.3 sans déchiffrement via des Autoencoders Deep Learning.</a:t>
            </a:r>
            <a:br/>
            <a:r>
              <a:t>3. Explicabilité de l'IA par valeurs SHAP.</a:t>
            </a:r>
          </a:p>
        </p:txBody>
      </p:sp>
      <p:sp>
        <p:nvSpPr>
          <p:cNvPr id="6" name="Rectangle 5"/>
          <p:cNvSpPr/>
          <p:nvPr/>
        </p:nvSpPr>
        <p:spPr>
          <a:xfrm>
            <a:off x="914400" y="6217920"/>
            <a:ext cx="10362895" cy="12700"/>
          </a:xfrm>
          <a:prstGeom prst="rect">
            <a:avLst/>
          </a:prstGeom>
          <a:solidFill>
            <a:srgbClr val="262B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6309360"/>
            <a:ext cx="10362895" cy="365760"/>
          </a:xfrm>
          <a:prstGeom prst="rect">
            <a:avLst/>
          </a:prstGeom>
          <a:noFill/>
        </p:spPr>
        <p:txBody>
          <a:bodyPr wrap="none" lIns="0" tIns="0" rIns="0" bIns="0">
            <a:spAutoFit/>
          </a:bodyPr>
          <a:lstStyle/>
          <a:p>
            <a:pPr>
              <a:defRPr sz="1000">
                <a:solidFill>
                  <a:srgbClr val="505869"/>
                </a:solidFill>
                <a:latin typeface="Segoe UI"/>
              </a:defRPr>
            </a:pPr>
            <a:r>
              <a:t>Merci pour votre attention — Session de Questions &amp; Réponses</a:t>
            </a:r>
          </a:p>
          <a:p>
            <a:pPr algn="r">
              <a:defRPr sz="1000">
                <a:solidFill>
                  <a:srgbClr val="505869"/>
                </a:solidFill>
                <a:latin typeface="Consolas"/>
              </a:defRPr>
            </a:pPr>
            <a:r>
              <a:t>8 / 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